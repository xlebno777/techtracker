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2636"/>
                </a:solidFill>
                <a:latin typeface="Aptos"/>
              </a:rPr>
              <a:t>Система поддержки принятия решения
в задачах диагностики серверного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D6C82"/>
                </a:solidFill>
                <a:latin typeface="Aptos"/>
              </a:rPr>
              <a:t>Предзащита выпускной квалификационной работы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977639"/>
            <a:ext cx="73152" cy="114300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1148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Студент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80559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ФИО студента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Группа: 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977639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3977639"/>
            <a:ext cx="73152" cy="114300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41148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Научный руководитель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4480559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ФИО научного руководителя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Должность, степень: 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82"/>
                </a:solidFill>
                <a:latin typeface="Aptos"/>
              </a:rPr>
              <a:t>Красноярск,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Цель, актуальность, проблема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6576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3152" cy="117043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6303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Цель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Разработать СППР для прогнозной диагностики серверного оборудования с учётом риска и неопределённости.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170432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463039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Актуальность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28800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простои серверов дорого обходятся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отказы редки и плохо размечены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пороговый мониторинг реактивен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170432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63039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Проблема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28800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Нужно перейти от «метрика выше нормы» к прогнозу состояния, риска и ожидаемых потерь.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636"/>
                </a:solidFill>
                <a:latin typeface="Aptos"/>
              </a:rPr>
              <a:t>Основные 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636"/>
                </a:solidFill>
                <a:latin typeface="Aptos"/>
              </a:defRPr>
            </a:pPr>
            <a:r>
              <a:t>проанализировать рисковые ситуации и существующие подходы мониторинга;</a:t>
            </a:r>
          </a:p>
          <a:p>
            <a:pPr>
              <a:spcAft>
                <a:spcPts val="700"/>
              </a:spcAft>
              <a:defRPr sz="1600">
                <a:solidFill>
                  <a:srgbClr val="1C2636"/>
                </a:solidFill>
                <a:latin typeface="Aptos"/>
              </a:defRPr>
            </a:pPr>
            <a:r>
              <a:t>сформировать поток эксплуатационных метрик и правила предобработки;</a:t>
            </a:r>
          </a:p>
          <a:p>
            <a:pPr>
              <a:spcAft>
                <a:spcPts val="700"/>
              </a:spcAft>
              <a:defRPr sz="1600">
                <a:solidFill>
                  <a:srgbClr val="1C2636"/>
                </a:solidFill>
                <a:latin typeface="Aptos"/>
              </a:defRPr>
            </a:pPr>
            <a:r>
              <a:t>реализовать прогнозирование SARIMA, LSTM и их оркестра;</a:t>
            </a:r>
          </a:p>
          <a:p>
            <a:pPr>
              <a:spcAft>
                <a:spcPts val="700"/>
              </a:spcAft>
              <a:defRPr sz="1600">
                <a:solidFill>
                  <a:srgbClr val="1C2636"/>
                </a:solidFill>
                <a:latin typeface="Aptos"/>
              </a:defRPr>
            </a:pPr>
            <a:r>
              <a:t>построить оценку состояний S0/S1/S2 и риск отказа;</a:t>
            </a:r>
          </a:p>
          <a:p>
            <a:pPr>
              <a:spcAft>
                <a:spcPts val="700"/>
              </a:spcAft>
              <a:defRPr sz="1600">
                <a:solidFill>
                  <a:srgbClr val="1C2636"/>
                </a:solidFill>
                <a:latin typeface="Aptos"/>
              </a:defRPr>
            </a:pPr>
            <a:r>
              <a:t>сформировать рекомендации СППР и оценить ожидаемый экономический эффект.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Идея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82"/>
                </a:solidFill>
                <a:latin typeface="Aptos"/>
              </a:rPr>
              <a:t>От реактивного мониторинга к управляемому прогнозному решению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Метрики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15087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D6C82"/>
                </a:solidFill>
                <a:latin typeface="Aptos"/>
              </a:defRPr>
            </a:pPr>
            <a:r>
              <a:t>CPU, RAM, сеть, ping, температура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2359152"/>
            <a:ext cx="329184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288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828800"/>
            <a:ext cx="73152" cy="105156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Прогноз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331720"/>
            <a:ext cx="15087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D6C82"/>
                </a:solidFill>
                <a:latin typeface="Aptos"/>
              </a:defRPr>
            </a:pPr>
            <a:r>
              <a:t>SARIMA + LSTM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7448" y="2359152"/>
            <a:ext cx="329184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0640" y="18288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73152" cy="105156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Состояние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331720"/>
            <a:ext cx="15087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D6C82"/>
                </a:solidFill>
                <a:latin typeface="Aptos"/>
              </a:defRPr>
            </a:pPr>
            <a:r>
              <a:t>S0 / S1 / S2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67728" y="2359152"/>
            <a:ext cx="329184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18288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828800"/>
            <a:ext cx="73152" cy="105156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Риск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331720"/>
            <a:ext cx="15087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D6C82"/>
                </a:solidFill>
                <a:latin typeface="Aptos"/>
              </a:defRPr>
            </a:pPr>
            <a:r>
              <a:t>ожидаемый риск отказа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08008" y="2359152"/>
            <a:ext cx="329184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0" y="18288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828800"/>
            <a:ext cx="73152" cy="105156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СППР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331720"/>
            <a:ext cx="15087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D6C82"/>
                </a:solidFill>
                <a:latin typeface="Aptos"/>
              </a:defRPr>
            </a:pPr>
            <a:r>
              <a:t>действие с меньшими потерями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576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657600"/>
            <a:ext cx="73152" cy="132588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794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Что принципиально изменилось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160520"/>
            <a:ext cx="310896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не ищем «аномалии ради аномалий»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оцениваем риск на горизонтах 24h/7d/30d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учитываем стоимость ложной тревоги и пропуска отказа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65760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657600"/>
            <a:ext cx="73152" cy="132588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7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Научная основа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160520"/>
            <a:ext cx="301752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вероятностные состояния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интервальный прогноз p10/p50/p90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ожидаемые потери и выбор действия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65760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657600"/>
            <a:ext cx="73152" cy="132588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Практический результат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160520"/>
            <a:ext cx="301752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оператор видит не только риск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но и причину, рекомендацию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и ожидаемый эффект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Данные для прогнозирования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82"/>
                </a:solidFill>
                <a:latin typeface="Aptos"/>
              </a:rPr>
              <a:t>Какие данные анализируются и как они готовятся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60020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63039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Источники метрик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28800"/>
            <a:ext cx="3154679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системные метрики: CPU, RAM, сеть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аппаратные каналы: SMART/IPMI/storcli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температура, ping, predictive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60020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63039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Предобработка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28800"/>
            <a:ext cx="3154679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часовая агрегация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физические границы: проценты 0-100, метрики &gt;= 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пропуски и некорректные точки фильтруются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160020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463039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Контекст времени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28800"/>
            <a:ext cx="3154679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рабочее окно 8:30-17:30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обед 13:00-14:00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ночные backup 21:00-23:00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отдельная обработка выходных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636"/>
                </a:solidFill>
                <a:latin typeface="Aptos"/>
              </a:rPr>
              <a:t>На выходе формируется регулярный временной ряд по каждой метрике и прогнозные точки: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069080"/>
            <a:ext cx="73152" cy="86868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206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636"/>
                </a:solidFill>
                <a:latin typeface="Aptos"/>
              </a:rPr>
              <a:t>y_hat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572000"/>
            <a:ext cx="1691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центральный прогноз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06908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4069080"/>
            <a:ext cx="73152" cy="86868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4206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636"/>
                </a:solidFill>
                <a:latin typeface="Aptos"/>
              </a:rPr>
              <a:t>p10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572000"/>
            <a:ext cx="1691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нижняя граница интервала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06908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0" y="4069080"/>
            <a:ext cx="73152" cy="86868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7" y="4206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636"/>
                </a:solidFill>
                <a:latin typeface="Aptos"/>
              </a:rPr>
              <a:t>p50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7" y="4572000"/>
            <a:ext cx="1691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медиана прогноза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06908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4069080"/>
            <a:ext cx="73152" cy="86868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4206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636"/>
                </a:solidFill>
                <a:latin typeface="Aptos"/>
              </a:rPr>
              <a:t>p90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4572000"/>
            <a:ext cx="1691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D6C82"/>
                </a:solidFill>
                <a:latin typeface="Aptos"/>
              </a:defRPr>
            </a:pPr>
            <a:r>
              <a:t>верхняя граница риска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4069080"/>
            <a:ext cx="1188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41280" y="4069080"/>
            <a:ext cx="73152" cy="86868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2448" y="42062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2448" y="4572000"/>
            <a:ext cx="8686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D6C82"/>
                </a:solidFill>
                <a:latin typeface="Aptos"/>
              </a:defRPr>
            </a:pPr>
            <a:r>
              <a:t>вес SARIMA/LSTM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Прогнозирование: SARIMA + LSTM + оркестр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SARIMA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1546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локальный baseline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STL/сезонность и возврат сезонной компоненты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траектория прогноза по часам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82880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1546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удалённый сервис на отдельном ПК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direct multi-horizon прогноз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rolling seasonality, тренд, лаги 1/24/168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82880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371600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Оркестр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1546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интеграция SARIMA и LSTM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вес α по метрике, горизонту и сегменту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неопределённость учитывает расхождение моделей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03320"/>
            <a:ext cx="73152" cy="123444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8404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Почему две 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06240"/>
            <a:ext cx="48006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SARIMA устойчиво работает на регулярной сезонности.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LSTM лучше захватывает нелинейные изменения и длинный контекст.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03320"/>
            <a:ext cx="73152" cy="123444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84048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Почему нужен оркестр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206240"/>
            <a:ext cx="46177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На разных метриках и горизонтах «лучшая» модель меняется.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Ансамбль снижает зависимость от одного алгоритма.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Оценка состояния и риска отказа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Состояния S0/S1/S2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0632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S0 — норма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S1 — деградация</a:t>
            </a:r>
          </a:p>
          <a:p>
            <a:pPr>
              <a:spcAft>
                <a:spcPts val="300"/>
              </a:spcAft>
              <a:defRPr sz="1300">
                <a:solidFill>
                  <a:srgbClr val="5D6C82"/>
                </a:solidFill>
                <a:latin typeface="Aptos"/>
              </a:defRPr>
            </a:pPr>
            <a:r>
              <a:t>S2 — предаварийное состояние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41732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Модель состояния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0632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единый state_inference_service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softmax по признакам риска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evidence показывает вклад метрик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Риск отказа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0632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изнашиваемые компоненты: Weibull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нагрузочные метрики: риск превышения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история состояний: Марковский слой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632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636"/>
                </a:solidFill>
                <a:latin typeface="Aptos"/>
              </a:rPr>
              <a:t>Итоговый риск объединяет два сигнала: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703320"/>
            <a:ext cx="4754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703320"/>
            <a:ext cx="73152" cy="105156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84048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Прогнозный риск метрик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44348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D6C82"/>
                </a:solidFill>
                <a:latin typeface="Aptos"/>
              </a:defRPr>
            </a:pPr>
            <a:r>
              <a:t>CPU, память, температура, сеть и другие каналы сравниваются с персональными порогами.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03320"/>
            <a:ext cx="4754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03320"/>
            <a:ext cx="73152" cy="105156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84048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Марковский риск 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206240"/>
            <a:ext cx="44348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D6C82"/>
                </a:solidFill>
                <a:latin typeface="Aptos"/>
              </a:defRPr>
            </a:pPr>
            <a:r>
              <a:t>История переходов S0/S1/S2 помогает учитывать накопленную деградацию, а не только последний запуск.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Формирование рекомендаций СППР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55448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Что хранится в системе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200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альтернативы действий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критерии AHP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политики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матрицы потерь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ограничения применимости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55448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Как выбирается действие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200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фильтр по активным риск-метрикам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расчёт ожидаемых потерь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учёт стоимости и обратимости действия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55448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Что получает оператор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200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рекомендацию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причины выбора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ожидаемые потери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альтернативы и объяснение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636"/>
                </a:solidFill>
                <a:latin typeface="Aptos"/>
              </a:rPr>
              <a:t>Ключевая идея экономической оценки: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069080"/>
            <a:ext cx="9875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069080"/>
            <a:ext cx="73152" cy="86868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4206240"/>
            <a:ext cx="9555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636"/>
                </a:solidFill>
                <a:latin typeface="Aptos"/>
              </a:rPr>
              <a:t>ΔR = R(no_action) − R(a*)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572000"/>
            <a:ext cx="95554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D6C82"/>
                </a:solidFill>
                <a:latin typeface="Aptos"/>
              </a:defRPr>
            </a:pPr>
            <a:r>
              <a:t>Положительное ΔR означает, что выбранное действие снижает ожидаемые потери относительно бездействия.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Программная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063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Django REST API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PostgreSQL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очереди задач и журналы запусков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063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Vue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экраны прогнозов, риска, СППР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базовый/экспертный режимы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32588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LSTM-ПК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063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удалённый API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подключение через VPN/Tailscale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браузер напрямую не обращается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1965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77639"/>
            <a:ext cx="73152" cy="73152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1148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Vue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977639"/>
            <a:ext cx="1965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977639"/>
            <a:ext cx="73152" cy="73152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41148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Backend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977639"/>
            <a:ext cx="1965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977639"/>
            <a:ext cx="73152" cy="73152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41148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PostgreSQL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977639"/>
            <a:ext cx="1965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3977639"/>
            <a:ext cx="73152" cy="73152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8" y="41148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LSTM service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88920" y="4343400"/>
            <a:ext cx="502919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40680" y="4343400"/>
            <a:ext cx="502920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92440" y="4343400"/>
            <a:ext cx="502920" cy="0"/>
          </a:xfrm>
          <a:prstGeom prst="line">
            <a:avLst/>
          </a:prstGeom>
          <a:ln w="25400">
            <a:solidFill>
              <a:srgbClr val="5D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" y="5166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2636"/>
                </a:solidFill>
                <a:latin typeface="Aptos"/>
              </a:rPr>
              <a:t>Все результаты сохраняются: сырые метрики, прогнозные точки, состояния, риск, рекомендации, отчёты оценки.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Оценка качества прогнозирования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82"/>
                </a:solidFill>
                <a:latin typeface="Aptos"/>
              </a:rPr>
              <a:t>Формальная проверка вместо оценки «на глаз»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00584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16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Данные оценки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forecast run: 264, 265, 266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итоговое сравнение: 19 089 точек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горизонты: 24h, 7d, 30d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23444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234440"/>
            <a:ext cx="73152" cy="100584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7" y="13716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Метрики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17373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RMSE, MAE, MAPE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Pinball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PICP80, ACE80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234440"/>
            <a:ext cx="3886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1234440"/>
            <a:ext cx="73152" cy="100584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Статистическая 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17373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Diebold-Mariano test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moving block bootstrap CI95</a:t>
            </a:r>
          </a:p>
          <a:p>
            <a:pPr>
              <a:spcAft>
                <a:spcPts val="300"/>
              </a:spcAft>
              <a:defRPr sz="1100">
                <a:solidFill>
                  <a:srgbClr val="5D6C82"/>
                </a:solidFill>
                <a:latin typeface="Aptos"/>
              </a:defRPr>
            </a:pPr>
            <a:r>
              <a:t>пометрика и по горизонту</a:t>
            </a:r>
          </a:p>
        </p:txBody>
      </p:sp>
      <p:pic>
        <p:nvPicPr>
          <p:cNvPr id="18" name="Picture 17" descr="chart_rmse_by_model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10515600" cy="4521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Результаты СППР и экономический 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91440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Средний ΔR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45920"/>
            <a:ext cx="24688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D6C82"/>
                </a:solidFill>
                <a:latin typeface="Aptos"/>
              </a:defRPr>
            </a:pPr>
            <a:r>
              <a:t>286 922,90 усл. руб.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143000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143000"/>
            <a:ext cx="73152" cy="91440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2801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Максимальный ΔR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645920"/>
            <a:ext cx="24688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D6C82"/>
                </a:solidFill>
                <a:latin typeface="Aptos"/>
              </a:defRPr>
            </a:pPr>
            <a:r>
              <a:t>497 614,30 усл. руб. на 30 днях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1430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1143000"/>
            <a:ext cx="73152" cy="91440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ΔR &gt;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645920"/>
            <a:ext cx="19202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D6C82"/>
                </a:solidFill>
                <a:latin typeface="Aptos"/>
              </a:defRPr>
            </a:pPr>
            <a:r>
              <a:t>100 % запусков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4300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143000"/>
            <a:ext cx="73152" cy="914400"/>
          </a:xfrm>
          <a:prstGeom prst="rect">
            <a:avLst/>
          </a:prstGeom>
          <a:solidFill>
            <a:srgbClr val="E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Действие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64592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C82"/>
                </a:solidFill>
                <a:latin typeface="Aptos"/>
              </a:defRPr>
            </a:pPr>
            <a:r>
              <a:t>ограничить CPU/частоту</a:t>
            </a:r>
          </a:p>
        </p:txBody>
      </p:sp>
      <p:pic>
        <p:nvPicPr>
          <p:cNvPr id="21" name="Picture 20" descr="ch3_delta_r_expected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10698480" cy="56639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61722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D6C82"/>
                </a:solidFill>
                <a:latin typeface="Aptos"/>
              </a:rPr>
              <a:t>Важно: это расчётное снижение ожидаемых потерь по модели риска, а не бухгалтерски подтверждённая экономия.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Готовность и дальнейшее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Что уже реализовано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502920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end-to-end контур: метрики → прогноз → риск → СППР → отчёт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SARIMA, LSTM, оркестр и оценка качества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единые настройки, фоновый центр задач, PDF/CSV отчёты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1828800"/>
          </a:xfrm>
          <a:prstGeom prst="rect">
            <a:avLst/>
          </a:prstGeom>
          <a:solidFill>
            <a:srgbClr val="EF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636"/>
                </a:solidFill>
                <a:latin typeface="Aptos"/>
              </a:rPr>
              <a:t>Что ещё нужно усилить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37360"/>
            <a:ext cx="502920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докалибровать интервалы p10–p90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накопить фактическую обратную связь DecisionFeedback</a:t>
            </a:r>
          </a:p>
          <a:p>
            <a:pPr>
              <a:spcAft>
                <a:spcPts val="300"/>
              </a:spcAft>
              <a:defRPr sz="1200">
                <a:solidFill>
                  <a:srgbClr val="5D6C82"/>
                </a:solidFill>
                <a:latin typeface="Aptos"/>
              </a:defRPr>
            </a:pPr>
            <a:r>
              <a:t>расширить эксперимент на реальные серверные данные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10424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73152" cy="114300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931920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636"/>
                </a:solidFill>
                <a:latin typeface="Aptos"/>
              </a:rPr>
              <a:t>Итог для предзащиты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297680"/>
            <a:ext cx="10104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D6C82"/>
                </a:solidFill>
                <a:latin typeface="Aptos"/>
              </a:defRPr>
            </a:pPr>
            <a:r>
              <a:t>Показана рабочая программная система и научная связка: прогнозирование временных рядов, вероятностная оценка состояния, риск отказа, выбор действия и расчёт ожидаемого эффекта.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636"/>
                </a:solidFill>
                <a:latin typeface="Aptos"/>
              </a:rPr>
              <a:t>5 ключевых научных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C82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44168"/>
            <a:ext cx="384048" cy="310896"/>
          </a:xfrm>
          <a:prstGeom prst="round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0360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25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636"/>
                </a:solidFill>
                <a:latin typeface="Aptos"/>
              </a:rPr>
              <a:t>Добронец Б. С., Попова О. А. Вычислительный вероятностный анализ: модели и методы. СФУ, 2020.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39696"/>
            <a:ext cx="384048" cy="310896"/>
          </a:xfrm>
          <a:prstGeom prst="round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99132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2140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636"/>
                </a:solidFill>
                <a:latin typeface="Aptos"/>
              </a:rPr>
              <a:t>Pinheiro E., Weber W.-D., Barroso L. A. Failure Trends in a Large Disk Drive Population. FAST, 2007.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35224"/>
            <a:ext cx="384048" cy="310896"/>
          </a:xfrm>
          <a:prstGeom prst="round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94660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169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636"/>
                </a:solidFill>
                <a:latin typeface="Aptos"/>
              </a:rPr>
              <a:t>Cleveland R. B. et al. STL: A Seasonal-Trend Decomposition Procedure Based on Loess. JOS, 1990.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30751"/>
            <a:ext cx="384048" cy="310896"/>
          </a:xfrm>
          <a:prstGeom prst="round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90187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12463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636"/>
                </a:solidFill>
                <a:latin typeface="Aptos"/>
              </a:rPr>
              <a:t>Hochreiter S., Schmidhuber J. Long Short-Term Memory. Neural Computation, 1997.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26279"/>
            <a:ext cx="384048" cy="310896"/>
          </a:xfrm>
          <a:prstGeom prst="roundRect">
            <a:avLst/>
          </a:prstGeom>
          <a:solidFill>
            <a:srgbClr val="0FA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85716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079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636"/>
                </a:solidFill>
                <a:latin typeface="Aptos"/>
              </a:rPr>
              <a:t>Bates J. M., Granger C. W. J. The Combination of Forecasts. Operational Research Quarterly, 1969.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561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486400"/>
            <a:ext cx="73152" cy="548640"/>
          </a:xfrm>
          <a:prstGeom prst="rect">
            <a:avLst/>
          </a:prstGeom>
          <a:solidFill>
            <a:srgbClr val="247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6235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636"/>
                </a:solidFill>
                <a:latin typeface="Aptos"/>
              </a:rPr>
              <a:t>Эти источники закрывают основу работы: неопределённость и СППР, серверные отказы, сезонная декомпозиция, LSTM и ансамбль прогнозов.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